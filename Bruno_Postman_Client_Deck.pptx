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02440"/>
                </a:solidFill>
                <a:latin typeface="Calibri"/>
              </a:rPr>
              <a:t>Postman → Bruno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A626E"/>
                </a:solidFill>
                <a:latin typeface="Calibri"/>
              </a:rPr>
              <a:t>Tooling comparison and migration considerations • Apr 06,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331720"/>
            <a:ext cx="5394960" cy="2057400"/>
          </a:xfrm>
          <a:prstGeom prst="rect">
            <a:avLst/>
          </a:prstGeom>
          <a:solidFill>
            <a:srgbClr val="F0F6FF"/>
          </a:solidFill>
          <a:ln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066CC"/>
                </a:solidFill>
                <a:latin typeface="Calibri"/>
              </a:rPr>
              <a:t>Executive takeaway</a:t>
            </a:r>
          </a:p>
          <a:p>
            <a:r>
              <a:rPr sz="1600">
                <a:solidFill>
                  <a:srgbClr val="102440"/>
                </a:solidFill>
                <a:latin typeface="Calibri"/>
              </a:rPr>
              <a:t>Bruno is a local-first, Git-friendly API client that can reduce license cost and improve version control.</a:t>
            </a:r>
            <a:br/>
            <a:r>
              <a:t>Migration is straightforward for collections and CLI runs, but complex scripting, monitoring, and mock servers require alternatives.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46520" y="2331720"/>
            <a:ext cx="5394960" cy="2057400"/>
          </a:xfrm>
          <a:prstGeom prst="rect">
            <a:avLst/>
          </a:prstGeom>
          <a:solidFill>
            <a:srgbClr val="F0F6FF"/>
          </a:solidFill>
          <a:ln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066CC"/>
                </a:solidFill>
                <a:latin typeface="Calibri"/>
              </a:rPr>
              <a:t>Best fit scenarios</a:t>
            </a:r>
          </a:p>
          <a:p>
            <a:r>
              <a:rPr sz="1600">
                <a:solidFill>
                  <a:srgbClr val="102440"/>
                </a:solidFill>
                <a:latin typeface="Calibri"/>
              </a:rPr>
              <a:t>Teams already using Git workflows</a:t>
            </a:r>
            <a:br/>
            <a:r>
              <a:t>CI-driven API checks (rather than cloud monitoring)</a:t>
            </a:r>
            <a:br/>
            <a:r>
              <a:t>Preference for lightweight tooling and repo-based collaboration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102440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00200"/>
            <a:ext cx="106070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>
                <a:solidFill>
                  <a:srgbClr val="102440"/>
                </a:solidFill>
                <a:latin typeface="Calibri"/>
              </a:rPr>
              <a:t>Why consider Bruno (and when not to)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102440"/>
                </a:solidFill>
                <a:latin typeface="Calibri"/>
              </a:rPr>
              <a:t>Feature comparison: Postman vs Bruno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102440"/>
                </a:solidFill>
                <a:latin typeface="Calibri"/>
              </a:rPr>
              <a:t>Migration approach and effort drivers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102440"/>
                </a:solidFill>
                <a:latin typeface="Calibri"/>
              </a:rPr>
              <a:t>Security/governance implications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102440"/>
                </a:solidFill>
                <a:latin typeface="Calibri"/>
              </a:rPr>
              <a:t>Recommendation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102440"/>
                </a:solidFill>
                <a:latin typeface="Calibri"/>
              </a:rPr>
              <a:t>Why Bruno (and why not)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645920"/>
            <a:ext cx="5623560" cy="4754880"/>
          </a:xfrm>
          <a:prstGeom prst="rect">
            <a:avLst/>
          </a:prstGeom>
          <a:solidFill>
            <a:srgbClr val="F0F6FF"/>
          </a:solidFill>
          <a:ln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066CC"/>
                </a:solidFill>
                <a:latin typeface="Calibri"/>
              </a:rPr>
              <a:t>Why teams like Bruno</a:t>
            </a:r>
          </a:p>
          <a:p>
            <a:r>
              <a:rPr sz="1600">
                <a:solidFill>
                  <a:srgbClr val="102440"/>
                </a:solidFill>
                <a:latin typeface="Calibri"/>
              </a:rPr>
              <a:t>Local-first collections (Git-friendly)</a:t>
            </a:r>
            <a:br/>
            <a:r>
              <a:t>Simple collaboration via PRs/branching</a:t>
            </a:r>
            <a:br/>
            <a:r>
              <a:t>CLI support for CI pipelines</a:t>
            </a:r>
            <a:br/>
            <a:r>
              <a:t>Reduced reliance on cloud workspaces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46520" y="1645920"/>
            <a:ext cx="5623560" cy="4754880"/>
          </a:xfrm>
          <a:prstGeom prst="rect">
            <a:avLst/>
          </a:prstGeom>
          <a:solidFill>
            <a:srgbClr val="F0F6FF"/>
          </a:solidFill>
          <a:ln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066CC"/>
                </a:solidFill>
                <a:latin typeface="Calibri"/>
              </a:rPr>
              <a:t>Where Postman stays stronger</a:t>
            </a:r>
          </a:p>
          <a:p>
            <a:r>
              <a:rPr sz="1600">
                <a:solidFill>
                  <a:srgbClr val="102440"/>
                </a:solidFill>
                <a:latin typeface="Calibri"/>
              </a:rPr>
              <a:t>Richer scripting/runtime (pm.*)</a:t>
            </a:r>
            <a:br/>
            <a:r>
              <a:t>Built-in monitoring and scheduling</a:t>
            </a:r>
            <a:br/>
            <a:r>
              <a:t>Mock server + documentation generation</a:t>
            </a:r>
            <a:br/>
            <a:r>
              <a:t>Cloud governance features out-of-the-box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102440"/>
                </a:solidFill>
                <a:latin typeface="Calibri"/>
              </a:rPr>
              <a:t>Feature comparison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626E"/>
                </a:solidFill>
                <a:latin typeface="Calibri"/>
              </a:rPr>
              <a:t>Highlights from your migration sheet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45920"/>
          <a:ext cx="116586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423160"/>
                <a:gridCol w="2423160"/>
                <a:gridCol w="2057400"/>
                <a:gridCol w="2743200"/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>
                    <a:solidFill>
                      <a:srgbClr val="10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Postman</a:t>
                      </a:r>
                    </a:p>
                  </a:txBody>
                  <a:tcPr>
                    <a:solidFill>
                      <a:srgbClr val="10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Bruno</a:t>
                      </a:r>
                    </a:p>
                  </a:txBody>
                  <a:tcPr>
                    <a:solidFill>
                      <a:srgbClr val="10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Alternative</a:t>
                      </a:r>
                    </a:p>
                  </a:txBody>
                  <a:tcPr>
                    <a:solidFill>
                      <a:srgbClr val="10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Remarks</a:t>
                      </a:r>
                    </a:p>
                  </a:txBody>
                  <a:tcPr>
                    <a:solidFill>
                      <a:srgbClr val="102440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Collection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Cloud-based sync via Postman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Local file-based storage (Git-friendly) in Bruno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Use Git repo to share Bruno collections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Major shift from cloud to local-first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Environment Variables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Managed via UI with environment switching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.bru files and .env support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Maintain structured env files in repo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Needs discipline in env management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Pre-request Scripts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Full JS support with rich API (pm.*)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Limited JS runtime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Rewrite scripts using Bruno JS syntax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Complex scripts require refactoring manually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Test Scripts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Built-in pm.test() framework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Basic assertion support complete migration is not possible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Use Bruno CLI + external test runner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Complex scripts require refactoring manually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CLI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Dedicated CLI tool (Newman)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Built-in Bruno CLI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Use Bruno CLI in 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Migration easy but commands differ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OAuth 2.0 Support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UI-based OAuth flow automation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Basic OAuth support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Manually configure tokens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Token auto-refresh less seamless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Mock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Built-in mock server 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No native mock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Use external mock server (e.g., WireMock or Mackoon)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Extra setup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API Monitoring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Cloud monitoring &amp; scheduled runs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No built-in monitoring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Use CI scheduler (Azure DevOps/GitHub Actions)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Monitoring shifts to pipeline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Team Collaboration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Workspace sharing &amp; role management with GIT 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Git-based collaboration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Use branch strategy + PR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Access control handled via Git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102440"/>
                </a:solidFill>
                <a:latin typeface="Calibri"/>
              </a:rPr>
              <a:t>Feature comparison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626E"/>
                </a:solidFill>
                <a:latin typeface="Calibri"/>
              </a:rPr>
              <a:t>Items that typically drive effort and process change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45920"/>
          <a:ext cx="116586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423160"/>
                <a:gridCol w="2423160"/>
                <a:gridCol w="2057400"/>
                <a:gridCol w="274320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>
                    <a:solidFill>
                      <a:srgbClr val="10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Postman</a:t>
                      </a:r>
                    </a:p>
                  </a:txBody>
                  <a:tcPr>
                    <a:solidFill>
                      <a:srgbClr val="10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Bruno</a:t>
                      </a:r>
                    </a:p>
                  </a:txBody>
                  <a:tcPr>
                    <a:solidFill>
                      <a:srgbClr val="10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Alternative</a:t>
                      </a:r>
                    </a:p>
                  </a:txBody>
                  <a:tcPr>
                    <a:solidFill>
                      <a:srgbClr val="10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Remarks</a:t>
                      </a:r>
                    </a:p>
                  </a:txBody>
                  <a:tcPr>
                    <a:solidFill>
                      <a:srgbClr val="102440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Via CLI Runner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GUI + CLI-based execution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Integrate with reporting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View report in GUI mode available in paid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Documentation Generation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Auto-generated API documentation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No built-in doc generation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Use external tools like Swagger/OpenAPI tools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Documentation process changes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Import Compatibility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Native 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Imports Postman collections (JSON)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Clean up unsupported features manually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Complex collections need adjustments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Version History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Cloud history tracking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Git history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Git commits &amp; tags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More transparent but manual discipline needed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Data-driven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CSV/JSON file support in runner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Limited built-in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Custom scripting or external data parsing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Needs manual structuring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Secrets Management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Encrypted cloud variables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Plain text/local files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Use .env + secret managers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Security handling must be planned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Learning curve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Easy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Migration 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nan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02440"/>
                          </a:solidFill>
                          <a:latin typeface="Calibri"/>
                        </a:rPr>
                        <a:t>nan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102440"/>
                </a:solidFill>
                <a:latin typeface="Calibri"/>
              </a:rPr>
              <a:t>Migration approach (practical)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1247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>
                <a:solidFill>
                  <a:srgbClr val="102440"/>
                </a:solidFill>
                <a:latin typeface="Calibri"/>
              </a:rPr>
              <a:t>1) Import Postman collections (JSON) into Bruno; fix any unsupported constructs.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102440"/>
                </a:solidFill>
                <a:latin typeface="Calibri"/>
              </a:rPr>
              <a:t>2) Convert environments to `.bru` / `.env` and align naming conventions.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102440"/>
                </a:solidFill>
                <a:latin typeface="Calibri"/>
              </a:rPr>
              <a:t>3) Refactor pre-request/tests: prioritize business-critical flows; simplify where possible.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102440"/>
                </a:solidFill>
                <a:latin typeface="Calibri"/>
              </a:rPr>
              <a:t>4) Replace monitoring with CI schedules (GitHub Actions/Azure DevOps) and standardized reports.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102440"/>
                </a:solidFill>
                <a:latin typeface="Calibri"/>
              </a:rPr>
              <a:t>5) Replace mock servers with a dedicated tool (WireMock/Mountebank/Mackoon) when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102440"/>
                </a:solidFill>
                <a:latin typeface="Calibri"/>
              </a:rPr>
              <a:t>Effort drivers (what actually takes time)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645920"/>
            <a:ext cx="11201400" cy="1143000"/>
          </a:xfrm>
          <a:prstGeom prst="rect">
            <a:avLst/>
          </a:prstGeom>
          <a:solidFill>
            <a:srgbClr val="F0F6FF"/>
          </a:solidFill>
          <a:ln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066CC"/>
                </a:solidFill>
                <a:latin typeface="Calibri"/>
              </a:rPr>
              <a:t>Highest-risk migration items from your sheet</a:t>
            </a:r>
          </a:p>
          <a:p>
            <a:r>
              <a:rPr sz="1600">
                <a:solidFill>
                  <a:srgbClr val="102440"/>
                </a:solidFill>
                <a:latin typeface="Calibri"/>
              </a:rPr>
              <a:t>Pre-request scripts, test scripts, monitoring, mock server, secrets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0"/>
            <a:ext cx="109728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>
                <a:solidFill>
                  <a:srgbClr val="102440"/>
                </a:solidFill>
                <a:latin typeface="Calibri"/>
              </a:rPr>
              <a:t>Complex Postman scripting (pm.*) rarely ports 1:1 — plan manual refactoring and validation.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102440"/>
                </a:solidFill>
                <a:latin typeface="Calibri"/>
              </a:rPr>
              <a:t>Monitoring moves from Postman cloud to pipeline schedules; define SLAs and alerting early.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102440"/>
                </a:solidFill>
                <a:latin typeface="Calibri"/>
              </a:rPr>
              <a:t>Secrets must be handled explicitly (secret manager + `.env` discipline) to avoid plain-text leakage.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102440"/>
                </a:solidFill>
                <a:latin typeface="Calibri"/>
              </a:rPr>
              <a:t>Mocking and docs require separate tooling; align on an API contract (OpenAPI) where possible.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102440"/>
                </a:solidFill>
                <a:latin typeface="Calibri"/>
              </a:rPr>
              <a:t>Recommendation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600200"/>
            <a:ext cx="11201400" cy="1417320"/>
          </a:xfrm>
          <a:prstGeom prst="rect">
            <a:avLst/>
          </a:prstGeom>
          <a:solidFill>
            <a:srgbClr val="F0F6FF"/>
          </a:solidFill>
          <a:ln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066CC"/>
                </a:solidFill>
                <a:latin typeface="Calibri"/>
              </a:rPr>
              <a:t>Recommended path</a:t>
            </a:r>
          </a:p>
          <a:p>
            <a:r>
              <a:rPr sz="1600">
                <a:solidFill>
                  <a:srgbClr val="102440"/>
                </a:solidFill>
                <a:latin typeface="Calibri"/>
              </a:rPr>
              <a:t>Run a 2–3 week pilot: migrate 3–5 representative collections, wire CI runs, and validate script parity.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291840"/>
            <a:ext cx="10972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>
                <a:solidFill>
                  <a:srgbClr val="102440"/>
                </a:solidFill>
                <a:latin typeface="Calibri"/>
              </a:rPr>
              <a:t>Define success metrics: coverage migrated, CI runtime, flaky rate, developer effort, license impact.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102440"/>
                </a:solidFill>
                <a:latin typeface="Calibri"/>
              </a:rPr>
              <a:t>Decide on replacements: monitoring scheduler, mock server tool, reporting format, secrets management.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102440"/>
                </a:solidFill>
                <a:latin typeface="Calibri"/>
              </a:rPr>
              <a:t>Create a migration backlog: scripts/tests refactor, env standardization, repo layout, governance rules.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